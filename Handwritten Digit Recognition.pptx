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4"/>
  </p:notesMasterIdLst>
  <p:handoutMasterIdLst>
    <p:handoutMasterId r:id="rId15"/>
  </p:handout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 rtl="0"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88" d="100"/>
          <a:sy n="88" d="100"/>
        </p:scale>
        <p:origin x="21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Substituent dată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C7EF0D2-335E-4D1F-A667-B192E6336BCA}" type="datetime1">
              <a:rPr lang="ro-RO" smtClean="0"/>
              <a:t>12.12.2024</a:t>
            </a:fld>
            <a:endParaRPr lang="en-US" dirty="0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7ACF5E7-ACB0-497B-A8C6-F2E617B4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3396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E0E9710-CC67-4A28-8E66-1EEC46516428}" type="datetime1">
              <a:rPr lang="ro-RO" smtClean="0"/>
              <a:t>12.12.2024</a:t>
            </a:fld>
            <a:endParaRPr lang="en-US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o"/>
              <a:t>Faceți clic pentru a edita stilurile de text coordonator</a:t>
            </a:r>
            <a:endParaRPr lang="en-US"/>
          </a:p>
          <a:p>
            <a:pPr lvl="1" rtl="0"/>
            <a:r>
              <a:rPr lang="ro"/>
              <a:t>Al doilea nivel</a:t>
            </a:r>
          </a:p>
          <a:p>
            <a:pPr lvl="2" rtl="0"/>
            <a:r>
              <a:rPr lang="ro"/>
              <a:t>Al treilea nivel</a:t>
            </a:r>
          </a:p>
          <a:p>
            <a:pPr lvl="3" rtl="0"/>
            <a:r>
              <a:rPr lang="ro"/>
              <a:t>Al patrulea nivel</a:t>
            </a:r>
          </a:p>
          <a:p>
            <a:pPr lvl="4" rtl="0"/>
            <a:r>
              <a:rPr lang="ro"/>
              <a:t>Al cincilea nivel</a:t>
            </a:r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A705E3-E620-489D-9973-6221209A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183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reptunghi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 useBgFill="1">
        <p:nvSpPr>
          <p:cNvPr id="10" name="Dreptunghi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Dreptunghi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Dreptunghi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Conector drept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rept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rept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Autofit/>
          </a:bodyPr>
          <a:lstStyle>
            <a:lvl1pPr algn="ctr">
              <a:lnSpc>
                <a:spcPct val="83000"/>
              </a:lnSpc>
              <a:defRPr lang="en-US" sz="60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Substituent dată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6EEBF980-9A71-4820-BF04-86A5C2355DAB}" type="datetime1">
              <a:rPr lang="ro-RO" smtClean="0"/>
              <a:t>12.12.2024</a:t>
            </a:fld>
            <a:endParaRPr lang="en-US" dirty="0"/>
          </a:p>
        </p:txBody>
      </p:sp>
      <p:sp>
        <p:nvSpPr>
          <p:cNvPr id="21" name="Substituent subsol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2" name="Substituent număr diapozitiv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3BF7D7A-B012-4186-BCC1-BD61F6C8E232}" type="datetime1">
              <a:rPr lang="ro-RO" smtClean="0"/>
              <a:t>12.12.2024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 useBgFill="1">
        <p:nvSpPr>
          <p:cNvPr id="23" name="Dreptunghi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Dreptunghi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Dreptunghi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rmAutofit/>
          </a:bodyPr>
          <a:lstStyle>
            <a:lvl1pPr algn="ctr">
              <a:lnSpc>
                <a:spcPct val="83000"/>
              </a:lnSpc>
              <a:defRPr lang="en-US" sz="60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Conector drept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rept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rept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31BB363B-317E-4C0A-BF38-D8FAF31CE9B7}" type="datetime1">
              <a:rPr lang="ro-RO" smtClean="0"/>
              <a:t>12.12.2024</a:t>
            </a:fld>
            <a:endParaRPr dirty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u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5938820-1DB3-40F9-B02E-D29AF7630138}" type="datetime1">
              <a:rPr lang="ro-RO" smtClean="0"/>
              <a:t>12.12.2024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ro"/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ro"/>
          </a:p>
        </p:txBody>
      </p:sp>
      <p:sp>
        <p:nvSpPr>
          <p:cNvPr id="7" name="Substituent dată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708D9E9-008A-4B59-B735-99ED19F7C54F}" type="datetime1">
              <a:rPr lang="ro-RO" smtClean="0"/>
              <a:t>12.12.2024</a:t>
            </a:fld>
            <a:endParaRPr lang="en-US"/>
          </a:p>
        </p:txBody>
      </p:sp>
      <p:sp>
        <p:nvSpPr>
          <p:cNvPr id="8" name="Substituent subsol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ubstituent număr diapozitiv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stituent dată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E57A5DE-D174-4952-896B-0162FA9FE363}" type="datetime1">
              <a:rPr lang="ro-RO" smtClean="0"/>
              <a:t>12.12.2024</a:t>
            </a:fld>
            <a:endParaRPr lang="en-US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EDEFE5-489D-44EA-A405-1E30AA0C0DC6}" type="datetime1">
              <a:rPr lang="ro-RO" smtClean="0"/>
              <a:t>12.12.2024</a:t>
            </a:fld>
            <a:endParaRPr lang="en-US"/>
          </a:p>
        </p:txBody>
      </p:sp>
      <p:sp>
        <p:nvSpPr>
          <p:cNvPr id="3" name="Substituent subsol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reptunghi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37918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Dreptunghi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u 1"/>
          <p:cNvSpPr>
            <a:spLocks noGrp="1"/>
          </p:cNvSpPr>
          <p:nvPr>
            <p:ph type="title" hasCustomPrompt="1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rtl="0"/>
            <a:r>
              <a:rPr lang="ro" dirty="0"/>
              <a:t>Faceți clic pentru a</a:t>
            </a:r>
            <a:r>
              <a:rPr lang="en-US" dirty="0"/>
              <a:t> </a:t>
            </a:r>
            <a:r>
              <a:rPr lang="ro" dirty="0"/>
              <a:t>edita stilul de titlu coordonator</a:t>
            </a:r>
            <a:endParaRPr lang="en-US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8" name="Substituent dată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AB9A498-A2A6-4457-B172-3011A0D4D2BD}" type="datetime1">
              <a:rPr lang="ro-RO" smtClean="0"/>
              <a:t>12.12.2024</a:t>
            </a:fld>
            <a:endParaRPr lang="en-US"/>
          </a:p>
        </p:txBody>
      </p:sp>
      <p:sp>
        <p:nvSpPr>
          <p:cNvPr id="9" name="Substituent subsol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Substituent număr diapozitiv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reptunghi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stituent imagin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o" dirty="0"/>
              <a:t>Faceți clic pe pictogramă pentru a adăuga o</a:t>
            </a:r>
            <a:r>
              <a:rPr lang="en-US" dirty="0"/>
              <a:t> </a:t>
            </a:r>
            <a:r>
              <a:rPr lang="ro" dirty="0"/>
              <a:t>imagine</a:t>
            </a:r>
            <a:endParaRPr lang="en-US" dirty="0"/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393B2E9D-C9EE-4F43-9276-0613AC4AE6E8}" type="datetime1">
              <a:rPr lang="ro-RO" smtClean="0"/>
              <a:t>12.12.2024</a:t>
            </a:fld>
            <a:endParaRPr lang="en-US" dirty="0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algn="l"/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Dreptunghi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77D3D5F-20D6-4036-A683-09F6D695F4BE}" type="datetime1">
              <a:rPr lang="ro-RO" smtClean="0"/>
              <a:t>12.12.2024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97BE7A-DA78-4A2C-B214-16AA60B78E2F}" type="datetime1">
              <a:rPr lang="ro-RO" smtClean="0"/>
              <a:t>12.12.2024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Dreptunghi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Dreptunghi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Dreptunghi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Substituent titlu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o"/>
              <a:t>Faceți clic pentru a edita stilul de titlu coordonator</a:t>
            </a:r>
            <a:endParaRPr lang="en-US" dirty="0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o"/>
              <a:t>Faceți clic pentru a edita stilurile de text coordonator</a:t>
            </a:r>
          </a:p>
          <a:p>
            <a:pPr lvl="1" rtl="0"/>
            <a:r>
              <a:rPr lang="ro"/>
              <a:t>Al doilea nivel</a:t>
            </a:r>
          </a:p>
          <a:p>
            <a:pPr lvl="2" rtl="0"/>
            <a:r>
              <a:rPr lang="ro"/>
              <a:t>Al treilea nivel</a:t>
            </a:r>
          </a:p>
          <a:p>
            <a:pPr lvl="3" rtl="0"/>
            <a:r>
              <a:rPr lang="ro"/>
              <a:t>Al patrulea nivel</a:t>
            </a:r>
          </a:p>
          <a:p>
            <a:pPr lvl="4" rtl="0"/>
            <a:r>
              <a:rPr lang="ro"/>
              <a:t>Al cincilea nivel</a:t>
            </a:r>
            <a:endParaRPr lang="en-US" dirty="0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BDCABB6-D211-4A3C-A8D0-30CDF488E3C0}" type="datetime1">
              <a:rPr lang="ro-RO" smtClean="0"/>
              <a:t>12.12.2024</a:t>
            </a:fld>
            <a:endParaRPr lang="en-US" dirty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Calibri" panose="020F0502020204030204" pitchFamily="34" charset="0"/>
          <a:ea typeface="+mn-ea"/>
          <a:cs typeface="Calibri" panose="020F0502020204030204" pitchFamily="34" charset="0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ine 5" descr="Siglă văzută de aproape&#10;&#10;Descriere generată automat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-1" y="10"/>
            <a:ext cx="12191979" cy="6857990"/>
          </a:xfrm>
          <a:prstGeom prst="rect">
            <a:avLst/>
          </a:prstGeom>
        </p:spPr>
      </p:pic>
      <p:sp>
        <p:nvSpPr>
          <p:cNvPr id="82" name="Dreptunghi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Dreptunghi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89" y="2037829"/>
            <a:ext cx="4775075" cy="1630907"/>
          </a:xfrm>
        </p:spPr>
        <p:txBody>
          <a:bodyPr rtlCol="0">
            <a:normAutofit/>
          </a:bodyPr>
          <a:lstStyle/>
          <a:p>
            <a:pPr rtl="0"/>
            <a:r>
              <a:rPr lang="ro-RO" sz="3600" dirty="0">
                <a:latin typeface="Baskerville Old Face" panose="02020602080505020303" pitchFamily="18" charset="0"/>
              </a:rPr>
              <a:t>Handwritten Digit Recognition</a:t>
            </a:r>
            <a:endParaRPr lang="ro" sz="3600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9" y="3388908"/>
            <a:ext cx="4775075" cy="559656"/>
          </a:xfrm>
        </p:spPr>
        <p:txBody>
          <a:bodyPr rtlCol="0">
            <a:normAutofit fontScale="92500" lnSpcReduction="20000"/>
          </a:bodyPr>
          <a:lstStyle/>
          <a:p>
            <a:pPr rtl="0">
              <a:spcAft>
                <a:spcPts val="600"/>
              </a:spcAft>
            </a:pPr>
            <a:r>
              <a:rPr lang="ro-RO" dirty="0">
                <a:latin typeface="Baskerville Old Face" panose="02020602080505020303" pitchFamily="18" charset="0"/>
              </a:rPr>
              <a:t>Proiect Python - Programarea calculatoarelor și limbaje de programare 3</a:t>
            </a:r>
            <a:endParaRPr lang="ro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D3BBB2-B7BD-C879-1E45-4389A0AF8AEE}"/>
              </a:ext>
            </a:extLst>
          </p:cNvPr>
          <p:cNvSpPr txBox="1"/>
          <p:nvPr/>
        </p:nvSpPr>
        <p:spPr>
          <a:xfrm>
            <a:off x="5981699" y="3959566"/>
            <a:ext cx="47750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dirty="0">
                <a:latin typeface="Baskerville Old Face" panose="02020602080505020303" pitchFamily="18" charset="0"/>
              </a:rPr>
              <a:t>Studenți: </a:t>
            </a:r>
          </a:p>
          <a:p>
            <a:r>
              <a:rPr lang="ro-RO" dirty="0">
                <a:latin typeface="Baskerville Old Face" panose="02020602080505020303" pitchFamily="18" charset="0"/>
              </a:rPr>
              <a:t>Chiș Anna, Ionescu Cristina-Eliza                            Grupa: 423C</a:t>
            </a: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C6D66AC-A8B4-8880-FB26-1071FFE920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 b="1" dirty="0">
                <a:latin typeface="Baskerville Old Face" panose="02020602080505020303" pitchFamily="18" charset="0"/>
              </a:rPr>
              <a:t>introducere</a:t>
            </a:r>
          </a:p>
        </p:txBody>
      </p:sp>
    </p:spTree>
    <p:extLst>
      <p:ext uri="{BB962C8B-B14F-4D97-AF65-F5344CB8AC3E}">
        <p14:creationId xmlns:p14="http://schemas.microsoft.com/office/powerpoint/2010/main" val="3490654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63FE6-B824-2EC7-F83C-17EFFDC39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>
                <a:latin typeface="Baskerville Old Face" panose="02020602080505020303" pitchFamily="18" charset="0"/>
              </a:rPr>
              <a:t>Introducere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A206-42D4-A08C-28DF-ECAB90318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5644243" cy="3849624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ro-RO" sz="1800" dirty="0">
                <a:latin typeface="Baskerville Old Face" panose="02020602080505020303" pitchFamily="18" charset="0"/>
              </a:rPr>
              <a:t>Proiectul vizează crearea unui sistem care recunoaște și clasează automat cifrele scrise de mână.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o-RO" sz="1800" dirty="0">
                <a:latin typeface="Baskerville Old Face" panose="02020602080505020303" pitchFamily="18" charset="0"/>
              </a:rPr>
              <a:t>Utilizează metode avansate de învățare automată și procesare a imaginilor digitale.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o-RO" sz="1800" dirty="0">
                <a:latin typeface="Baskerville Old Face" panose="02020602080505020303" pitchFamily="18" charset="0"/>
              </a:rPr>
              <a:t>Setul de date MNIST conține 70.000 de imagini cu cifre scrise de mână, utilizate pentru antrenament și testare.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o-RO" sz="1800" dirty="0">
                <a:latin typeface="Baskerville Old Face" panose="02020602080505020303" pitchFamily="18" charset="0"/>
              </a:rPr>
              <a:t>Aplicabil în domenii precum procesarea documentelor financiare, sortarea corespondenței sau corectarea automată a testelor educaționale.</a:t>
            </a:r>
          </a:p>
          <a:p>
            <a:pPr>
              <a:buFont typeface="Courier New" panose="02070309020205020404" pitchFamily="49" charset="0"/>
              <a:buChar char="o"/>
            </a:pPr>
            <a:endParaRPr lang="ro-RO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3DB501-D05B-25FA-FE0F-157B48EC4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165" y="539360"/>
            <a:ext cx="5145470" cy="31275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48435E-F44F-9B61-6F92-3F6AFBC2E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552" y="3712028"/>
            <a:ext cx="3686574" cy="269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547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B431E03-8DD4-4F12-1B87-2213DC38E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8775" y="2244725"/>
            <a:ext cx="8934450" cy="2436813"/>
          </a:xfrm>
        </p:spPr>
        <p:txBody>
          <a:bodyPr/>
          <a:lstStyle/>
          <a:p>
            <a:pPr rtl="0"/>
            <a:r>
              <a:rPr lang="ro-RO" b="1" dirty="0">
                <a:latin typeface="Baskerville Old Face" panose="02020602080505020303" pitchFamily="18" charset="0"/>
              </a:rPr>
              <a:t>Tehnologii</a:t>
            </a:r>
            <a:r>
              <a:rPr lang="ro-RO" dirty="0"/>
              <a:t> </a:t>
            </a:r>
            <a:r>
              <a:rPr lang="ro-RO" b="1" dirty="0">
                <a:latin typeface="Baskerville Old Face" panose="02020602080505020303" pitchFamily="18" charset="0"/>
              </a:rPr>
              <a:t>Utilizate</a:t>
            </a:r>
            <a:endParaRPr lang="en-US" b="1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065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9D2D2-06DB-CAFA-D1B8-FA52CDF55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>
                <a:latin typeface="Baskerville Old Face" panose="02020602080505020303" pitchFamily="18" charset="0"/>
              </a:rPr>
              <a:t>Tehnologii</a:t>
            </a:r>
            <a:r>
              <a:rPr lang="ro-RO" dirty="0"/>
              <a:t> </a:t>
            </a:r>
            <a:r>
              <a:rPr lang="ro-RO" b="1" dirty="0">
                <a:latin typeface="Baskerville Old Face" panose="02020602080505020303" pitchFamily="18" charset="0"/>
              </a:rPr>
              <a:t>Utilizate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BAA8C-881C-184F-1B1D-AEA78DE96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ro-RO" sz="2000" b="1" dirty="0">
                <a:latin typeface="Baskerville Old Face" panose="02020602080505020303" pitchFamily="18" charset="0"/>
              </a:rPr>
              <a:t>Python</a:t>
            </a:r>
            <a:r>
              <a:rPr lang="ro-RO" sz="2000" dirty="0">
                <a:latin typeface="Baskerville Old Face" panose="02020602080505020303" pitchFamily="18" charset="0"/>
              </a:rPr>
              <a:t>: Limbaj de programare versatil, potrivit pentru învățarea automată și procesarea imaginilor.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o-RO" sz="2000" b="1" dirty="0">
                <a:latin typeface="Baskerville Old Face" panose="02020602080505020303" pitchFamily="18" charset="0"/>
              </a:rPr>
              <a:t>TensorFlow si Keras</a:t>
            </a:r>
            <a:r>
              <a:rPr lang="ro-RO" sz="2000" dirty="0">
                <a:latin typeface="Baskerville Old Face" panose="02020602080505020303" pitchFamily="18" charset="0"/>
              </a:rPr>
              <a:t>: Folosite pentru crearea și antrenarea unui model de rețea neuronală convoluțională (CNN).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o-RO" sz="2000" b="1" dirty="0">
                <a:latin typeface="Baskerville Old Face" panose="02020602080505020303" pitchFamily="18" charset="0"/>
              </a:rPr>
              <a:t>Set de date MNIST</a:t>
            </a:r>
            <a:r>
              <a:rPr lang="ro-RO" sz="2000" dirty="0">
                <a:latin typeface="Baskerville Old Face" panose="02020602080505020303" pitchFamily="18" charset="0"/>
              </a:rPr>
              <a:t>: Conține imagini cu cifre scrise de mână, folosit pentru antrenare.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o-RO" sz="2000" b="1" dirty="0">
                <a:latin typeface="Baskerville Old Face" panose="02020602080505020303" pitchFamily="18" charset="0"/>
              </a:rPr>
              <a:t>Tkinter</a:t>
            </a:r>
            <a:r>
              <a:rPr lang="ro-RO" sz="2000" dirty="0">
                <a:latin typeface="Baskerville Old Face" panose="02020602080505020303" pitchFamily="18" charset="0"/>
              </a:rPr>
              <a:t>: Bibliotecă Python pentru crearea interfeței grafice.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o-RO" sz="2000" b="1" dirty="0">
                <a:latin typeface="Baskerville Old Face" panose="02020602080505020303" pitchFamily="18" charset="0"/>
              </a:rPr>
              <a:t>Pygame</a:t>
            </a:r>
            <a:r>
              <a:rPr lang="ro-RO" sz="2000" dirty="0">
                <a:latin typeface="Baskerville Old Face" panose="02020602080505020303" pitchFamily="18" charset="0"/>
              </a:rPr>
              <a:t>: Permite redarea muzicii de fundal pentru o experiență interactivă.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o-RO" sz="2000" b="1" dirty="0">
                <a:latin typeface="Baskerville Old Face" panose="02020602080505020303" pitchFamily="18" charset="0"/>
              </a:rPr>
              <a:t>Pillow (PIL)</a:t>
            </a:r>
            <a:r>
              <a:rPr lang="ro-RO" sz="2000" dirty="0">
                <a:latin typeface="Baskerville Old Face" panose="02020602080505020303" pitchFamily="18" charset="0"/>
              </a:rPr>
              <a:t>: Folosit pentru manipularea și procesarea imaginilor.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o-RO" sz="2000" b="1" dirty="0">
                <a:latin typeface="Baskerville Old Face" panose="02020602080505020303" pitchFamily="18" charset="0"/>
              </a:rPr>
              <a:t>NumPy</a:t>
            </a:r>
            <a:r>
              <a:rPr lang="ro-RO" sz="2000" dirty="0">
                <a:latin typeface="Baskerville Old Face" panose="02020602080505020303" pitchFamily="18" charset="0"/>
              </a:rPr>
              <a:t>: Utilizat pentru manipularea eficientă a datelor numerice.</a:t>
            </a:r>
          </a:p>
          <a:p>
            <a:pPr marL="0" indent="0">
              <a:buNone/>
            </a:pP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609505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563786A-EAF8-D28D-75A3-3AE221BB97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 b="1" dirty="0">
                <a:latin typeface="Baskerville Old Face" panose="02020602080505020303" pitchFamily="18" charset="0"/>
              </a:rPr>
              <a:t>Descrierea Aplicației</a:t>
            </a:r>
          </a:p>
        </p:txBody>
      </p:sp>
    </p:spTree>
    <p:extLst>
      <p:ext uri="{BB962C8B-B14F-4D97-AF65-F5344CB8AC3E}">
        <p14:creationId xmlns:p14="http://schemas.microsoft.com/office/powerpoint/2010/main" val="1111059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9DA3-D62C-3DC8-9AEA-62673770D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>
                <a:latin typeface="Baskerville Old Face" panose="02020602080505020303" pitchFamily="18" charset="0"/>
              </a:rPr>
              <a:t>Descrierea Aplicației</a:t>
            </a:r>
            <a:endParaRPr lang="ro-RO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C3B0170-D4B2-EFDE-A655-3C6ED7508B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32615" y="3745792"/>
            <a:ext cx="6395357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ro-RO" altLang="ro-R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Interfata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: Simplă și intuitivă, creată cu Tkinter.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Utilizatorii pot desena cifre pe un canvas de 200x200 pixeli.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ro-RO" altLang="ro-R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Functionalitatii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Buton „Predict” pentru a obține predicția modelului.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Buton „Clear” pentru a șterge desenul și a începe din nou.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Mesaj festiv animat „Crăciun Fericit!”.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Muzică de fundal de Crăciun redată prin Pygame.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F06144-8006-CD89-D347-E22C29086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319" y="685562"/>
            <a:ext cx="2651990" cy="27434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268292-2873-5B89-9141-219EE3A52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456" y="2002997"/>
            <a:ext cx="3870858" cy="399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059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D17B-44AB-EDD9-388B-1CC70D153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b="1" dirty="0">
                <a:latin typeface="Baskerville Old Face" panose="02020602080505020303" pitchFamily="18" charset="0"/>
              </a:rPr>
              <a:t>Preprocesarea Datelor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BA89F-49FD-47C3-C11C-636A41770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599" y="2014194"/>
            <a:ext cx="9084130" cy="2485209"/>
          </a:xfrm>
        </p:spPr>
        <p:txBody>
          <a:bodyPr/>
          <a:lstStyle/>
          <a:p>
            <a:pPr marL="0" indent="0">
              <a:buNone/>
            </a:pPr>
            <a:r>
              <a:rPr lang="ro-RO" sz="2000" b="1" dirty="0">
                <a:latin typeface="Baskerville Old Face" panose="02020602080505020303" pitchFamily="18" charset="0"/>
              </a:rPr>
              <a:t>Preprocesarea Setului de Date MNIST:</a:t>
            </a:r>
            <a:endParaRPr lang="ro-RO" sz="2000" dirty="0">
              <a:latin typeface="Baskerville Old Face" panose="02020602080505020303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ro-RO" sz="2000" dirty="0">
                <a:latin typeface="Baskerville Old Face" panose="02020602080505020303" pitchFamily="18" charset="0"/>
              </a:rPr>
              <a:t>Setul de date MNIST este încărcat și împărțit în seturi de antrenament și testare.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o-RO" sz="2000" dirty="0">
                <a:latin typeface="Baskerville Old Face" panose="02020602080505020303" pitchFamily="18" charset="0"/>
              </a:rPr>
              <a:t>Imaginile sunt normalizate (valorile pixelilor sunt împărțite la 255.0 pentru a fi între 0 și 1).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o-RO" sz="2000" dirty="0">
                <a:latin typeface="Baskerville Old Face" panose="02020602080505020303" pitchFamily="18" charset="0"/>
              </a:rPr>
              <a:t>Imaginile sunt redimensionate la dimensiunea (28, 28, 1) necesară de modelul CNN.</a:t>
            </a:r>
          </a:p>
          <a:p>
            <a:pPr marL="0" indent="0">
              <a:buNone/>
            </a:pPr>
            <a:endParaRPr lang="ro-RO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4DA8E5-5FD3-1990-DA4F-C9EC8CE3F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499403"/>
            <a:ext cx="10306058" cy="119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303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9AF17-BD51-2FE3-C553-E7CDE6C3D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>
                <a:latin typeface="Baskerville Old Face" panose="02020602080505020303" pitchFamily="18" charset="0"/>
              </a:rPr>
              <a:t>Construirea Modelului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16DE899-C4AD-DBBD-D5AB-FC5D866A24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9085" y="1921861"/>
            <a:ext cx="10863943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Construirea Modelului</a:t>
            </a:r>
            <a:endParaRPr kumimoji="0" lang="ro-RO" altLang="ro-RO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Utilizare API-ul </a:t>
            </a:r>
            <a:r>
              <a:rPr kumimoji="0" lang="ro-RO" altLang="ro-R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Sequential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 pentru adăugarea straturilor într-o succesiune ordonată.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Primul strat </a:t>
            </a:r>
            <a:r>
              <a:rPr kumimoji="0" lang="ro-RO" altLang="ro-R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Conv2D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 extrage caracteristicile din imagini.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Strat </a:t>
            </a:r>
            <a:r>
              <a:rPr kumimoji="0" lang="ro-RO" altLang="ro-R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MaxPooling2D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 pentru reducerea dimensiunii datelor extrase.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ro-RO" altLang="ro-R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Flatten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 pentru aplatizarea datelor înainte de straturile dense.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Straturi </a:t>
            </a:r>
            <a:r>
              <a:rPr kumimoji="0" lang="ro-RO" altLang="ro-R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Dense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 pentru clasificarea finală a cifrei (10 clase).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9780F7-7A53-F165-78E8-69ECB837D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42" y="4014742"/>
            <a:ext cx="9812924" cy="198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975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60023-1364-CF71-ADDD-C8FD5515E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973" y="929105"/>
            <a:ext cx="10591800" cy="1382149"/>
          </a:xfrm>
        </p:spPr>
        <p:txBody>
          <a:bodyPr/>
          <a:lstStyle/>
          <a:p>
            <a:r>
              <a:rPr lang="ro-RO" b="1" dirty="0">
                <a:latin typeface="Baskerville Old Face" panose="02020602080505020303" pitchFamily="18" charset="0"/>
              </a:rPr>
              <a:t>Compilarea Modelului ȘI </a:t>
            </a:r>
            <a:r>
              <a:rPr lang="ro-RO" sz="4000" b="1" dirty="0">
                <a:latin typeface="Baskerville Old Face" panose="02020602080505020303" pitchFamily="18" charset="0"/>
              </a:rPr>
              <a:t>Antrenarea Modelului</a:t>
            </a:r>
            <a:br>
              <a:rPr lang="ro-RO" sz="4000" dirty="0">
                <a:latin typeface="Baskerville Old Face" panose="02020602080505020303" pitchFamily="18" charset="0"/>
              </a:rPr>
            </a:br>
            <a:endParaRPr lang="ro-RO" b="1" dirty="0"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FA3CF-203A-430C-0240-353D39F2B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973" y="1812198"/>
            <a:ext cx="10058400" cy="1995351"/>
          </a:xfrm>
        </p:spPr>
        <p:txBody>
          <a:bodyPr/>
          <a:lstStyle/>
          <a:p>
            <a:pPr marL="0" indent="0">
              <a:buNone/>
            </a:pPr>
            <a:r>
              <a:rPr lang="ro-RO" sz="2000" b="1" dirty="0">
                <a:latin typeface="Baskerville Old Face" panose="02020602080505020303" pitchFamily="18" charset="0"/>
              </a:rPr>
              <a:t>Compilarea Modelului:</a:t>
            </a:r>
            <a:endParaRPr lang="ro-RO" sz="2000" dirty="0">
              <a:latin typeface="Baskerville Old Face" panose="020206020805050203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o-RO" sz="2000" dirty="0">
                <a:latin typeface="Baskerville Old Face" panose="02020602080505020303" pitchFamily="18" charset="0"/>
              </a:rPr>
              <a:t>Utilizarea optimizatorului </a:t>
            </a:r>
            <a:r>
              <a:rPr lang="ro-RO" sz="2000" b="1" dirty="0">
                <a:latin typeface="Baskerville Old Face" panose="02020602080505020303" pitchFamily="18" charset="0"/>
              </a:rPr>
              <a:t>Adam</a:t>
            </a:r>
            <a:r>
              <a:rPr lang="ro-RO" sz="2000" dirty="0">
                <a:latin typeface="Baskerville Old Face" panose="02020602080505020303" pitchFamily="18" charset="0"/>
              </a:rPr>
              <a:t> pentru ajustarea parametrilor modelului.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sz="2000" dirty="0">
                <a:latin typeface="Baskerville Old Face" panose="02020602080505020303" pitchFamily="18" charset="0"/>
              </a:rPr>
              <a:t>Funcția de pierdere: </a:t>
            </a:r>
            <a:r>
              <a:rPr lang="ro-RO" sz="2000" b="1" dirty="0">
                <a:latin typeface="Baskerville Old Face" panose="02020602080505020303" pitchFamily="18" charset="0"/>
              </a:rPr>
              <a:t>sparse_categorical_crossentropy</a:t>
            </a:r>
            <a:r>
              <a:rPr lang="ro-RO" sz="2000" dirty="0">
                <a:latin typeface="Baskerville Old Face" panose="02020602080505020303" pitchFamily="18" charset="0"/>
              </a:rPr>
              <a:t> (pentru clasificare multi-clasă).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sz="2000" dirty="0">
                <a:latin typeface="Baskerville Old Face" panose="02020602080505020303" pitchFamily="18" charset="0"/>
              </a:rPr>
              <a:t>Metrica utilizată: </a:t>
            </a:r>
            <a:r>
              <a:rPr lang="ro-RO" sz="2000" b="1" dirty="0">
                <a:latin typeface="Baskerville Old Face" panose="02020602080505020303" pitchFamily="18" charset="0"/>
              </a:rPr>
              <a:t>Acuratețea</a:t>
            </a:r>
            <a:r>
              <a:rPr lang="ro-RO" sz="2000" dirty="0">
                <a:latin typeface="Baskerville Old Face" panose="02020602080505020303" pitchFamily="18" charset="0"/>
              </a:rPr>
              <a:t> pentru evaluarea performanței modelului.</a:t>
            </a:r>
          </a:p>
          <a:p>
            <a:endParaRPr lang="ro-RO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1A330-C9FE-F3EA-90F7-E7D0BE431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627" y="3666525"/>
            <a:ext cx="9741888" cy="2820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2221BB-E25C-3734-1602-193312CC45E5}"/>
              </a:ext>
            </a:extLst>
          </p:cNvPr>
          <p:cNvSpPr txBox="1"/>
          <p:nvPr/>
        </p:nvSpPr>
        <p:spPr>
          <a:xfrm>
            <a:off x="962973" y="4191587"/>
            <a:ext cx="9576661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000" b="1" dirty="0">
                <a:latin typeface="Baskerville Old Face" panose="02020602080505020303" pitchFamily="18" charset="0"/>
              </a:rPr>
              <a:t>Antrenarea Modelului</a:t>
            </a:r>
            <a:endParaRPr lang="ro-RO" sz="2000" dirty="0">
              <a:latin typeface="Baskerville Old Face" panose="02020602080505020303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o-RO" sz="2000" dirty="0">
                <a:latin typeface="Baskerville Old Face" panose="02020602080505020303" pitchFamily="18" charset="0"/>
              </a:rPr>
              <a:t>Modelul este antrenat pe setul de date de antrenament pentru 5 epoci.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o-RO" sz="2000" dirty="0">
                <a:latin typeface="Baskerville Old Face" panose="02020602080505020303" pitchFamily="18" charset="0"/>
              </a:rPr>
              <a:t>Se utilizează setul de date de testare pentru validare.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o-RO" sz="2000" dirty="0">
                <a:latin typeface="Baskerville Old Face" panose="02020602080505020303" pitchFamily="18" charset="0"/>
              </a:rPr>
              <a:t>Ajustarea parametrilor pentru a preveni supraantrenarea și pentru a asigura generalizarea.</a:t>
            </a:r>
          </a:p>
          <a:p>
            <a:endParaRPr lang="ro-RO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A1E13B-3D7E-9871-4668-C276B6296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627" y="5698073"/>
            <a:ext cx="9741888" cy="28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279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1ED9E-1AE4-9473-C1A7-B74F94502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>
                <a:latin typeface="Baskerville Old Face" panose="02020602080505020303" pitchFamily="18" charset="0"/>
              </a:rPr>
              <a:t>Concluzii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FBD38-915F-CD47-2FC0-CCB2E1177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1576251"/>
          </a:xfrm>
        </p:spPr>
        <p:txBody>
          <a:bodyPr>
            <a:noAutofit/>
          </a:bodyPr>
          <a:lstStyle/>
          <a:p>
            <a:r>
              <a:rPr lang="ro-RO" sz="2400" dirty="0">
                <a:latin typeface="Baskerville Old Face" panose="02020602080505020303" pitchFamily="18" charset="0"/>
              </a:rPr>
              <a:t>Proiectul demonstrează aplicarea rețelelor neuronale convoluționale (CNN) pentru recunoașterea cifrelor scrise de mână.</a:t>
            </a:r>
          </a:p>
          <a:p>
            <a:r>
              <a:rPr lang="ro-RO" sz="2400" dirty="0">
                <a:latin typeface="Baskerville Old Face" panose="02020602080505020303" pitchFamily="18" charset="0"/>
              </a:rPr>
              <a:t>Aplicația oferă o experiență interactivă și utilă, integrând tehnologiile moderne pentru o recunoaștere precisă a imaginilor.</a:t>
            </a:r>
          </a:p>
          <a:p>
            <a:r>
              <a:rPr lang="ro-RO" sz="2400" dirty="0">
                <a:latin typeface="Baskerville Old Face" panose="02020602080505020303" pitchFamily="18" charset="0"/>
              </a:rPr>
              <a:t>Modelul poate fi folosit pentru diverse aplicații practice în educație, domeniul financiar și logistică.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3258C-86DE-E79A-FAAD-EC57DEACF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3BF7D7A-B012-4186-BCC1-BD61F6C8E232}" type="datetime1">
              <a:rPr lang="ro-RO" smtClean="0"/>
              <a:t>12.12.2024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338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0577EE-E0E5-72A1-F397-289761194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Baskerville Old Face" panose="02020602080505020303" pitchFamily="18" charset="0"/>
              </a:rPr>
              <a:t>Multumim pentru atenție</a:t>
            </a:r>
          </a:p>
        </p:txBody>
      </p:sp>
    </p:spTree>
    <p:extLst>
      <p:ext uri="{BB962C8B-B14F-4D97-AF65-F5344CB8AC3E}">
        <p14:creationId xmlns:p14="http://schemas.microsoft.com/office/powerpoint/2010/main" val="22890031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974_TF78438558" id="{D7A46F7F-7D4F-40F3-8487-88C156D13B9D}" vid="{9A95D45C-7E0A-4D3F-A034-4169AA6E60A0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{52FA7BAE-18CF-4707-8EF2-B9C6CB71E019}tf78438558_win32</Template>
  <TotalTime>24</TotalTime>
  <Words>492</Words>
  <Application>Microsoft Office PowerPoint</Application>
  <PresentationFormat>Widescreen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Unicode MS</vt:lpstr>
      <vt:lpstr>Baskerville Old Face</vt:lpstr>
      <vt:lpstr>Calibri</vt:lpstr>
      <vt:lpstr>Courier New</vt:lpstr>
      <vt:lpstr>Garamond</vt:lpstr>
      <vt:lpstr>SavonVTI</vt:lpstr>
      <vt:lpstr>Handwritten Digit Recognition</vt:lpstr>
      <vt:lpstr>introducere</vt:lpstr>
      <vt:lpstr>Introducere</vt:lpstr>
      <vt:lpstr>Tehnologii Utilizate</vt:lpstr>
      <vt:lpstr>Tehnologii Utilizate</vt:lpstr>
      <vt:lpstr>Descrierea Aplicației</vt:lpstr>
      <vt:lpstr>Descrierea Aplicației</vt:lpstr>
      <vt:lpstr>Preprocesarea Datelor</vt:lpstr>
      <vt:lpstr>Construirea Modelului</vt:lpstr>
      <vt:lpstr>Compilarea Modelului ȘI Antrenarea Modelului </vt:lpstr>
      <vt:lpstr>Concluzii</vt:lpstr>
      <vt:lpstr>Multumim pentru atenție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Chiș</dc:creator>
  <cp:lastModifiedBy>Anna Chiș</cp:lastModifiedBy>
  <cp:revision>2</cp:revision>
  <dcterms:created xsi:type="dcterms:W3CDTF">2024-12-12T21:05:25Z</dcterms:created>
  <dcterms:modified xsi:type="dcterms:W3CDTF">2024-12-12T21:29:51Z</dcterms:modified>
</cp:coreProperties>
</file>